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8" r:id="rId3"/>
    <p:sldId id="264" r:id="rId4"/>
    <p:sldId id="265" r:id="rId5"/>
    <p:sldId id="257" r:id="rId6"/>
    <p:sldId id="258" r:id="rId7"/>
    <p:sldId id="259" r:id="rId8"/>
    <p:sldId id="260" r:id="rId9"/>
    <p:sldId id="261" r:id="rId10"/>
    <p:sldId id="262" r:id="rId11"/>
    <p:sldId id="263"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0A6D0-2FA9-4694-9952-636DC100B644}" v="12" dt="2026-04-10T09:37:42.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E8368-84BB-4987-BE5F-0B093EA41183}"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96CCF-987A-4529-BE5A-D640A43147BA}" type="slidenum">
              <a:rPr lang="en-IN" smtClean="0"/>
              <a:t>‹#›</a:t>
            </a:fld>
            <a:endParaRPr lang="en-IN"/>
          </a:p>
        </p:txBody>
      </p:sp>
    </p:spTree>
    <p:extLst>
      <p:ext uri="{BB962C8B-B14F-4D97-AF65-F5344CB8AC3E}">
        <p14:creationId xmlns:p14="http://schemas.microsoft.com/office/powerpoint/2010/main" val="3158842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F2A60F-A370-4A1E-8DFA-0083A36BF1A4}"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3431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7C4A07-C9C3-44B4-97BD-5F2B5045367C}"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428198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A33B6-57CF-47F3-A7A9-051AB22A8A2F}"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38305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B8D836-547B-49A8-86E5-64F7C5EF54C3}" type="datetime1">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804463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FA893C-F99A-4F8B-99A5-8CF315B77AF0}" type="datetime1">
              <a:rPr lang="en-IN" smtClean="0"/>
              <a:t>10-04-2026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3837291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4DAAAB-C5A3-40CF-8EB8-8AADC12EC48A}" type="datetime1">
              <a:rPr lang="en-IN" smtClean="0"/>
              <a:t>10-04-2026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166776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23213C-077D-4E2B-B547-C7D2DF2F984D}" type="datetime1">
              <a:rPr lang="en-IN" smtClean="0"/>
              <a:t>10-04-2026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063771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E759E6-914C-41BD-AABE-A5E02372895D}" type="datetime1">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329644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5CB1FF-2DE2-4F24-B379-7BB66CA11535}" type="datetime1">
              <a:rPr lang="en-IN" smtClean="0"/>
              <a:t>10-04-2026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1066932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9E7162-54AF-44E0-B622-655B9482A843}"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872478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BBC64-7FED-4C38-8EB5-5A8E9E645BBA}"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33211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662281-6061-47A5-A5E3-20C99AF6D192}"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39740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E418AA-9E75-42C2-AFAA-A73AE6214BFD}"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01214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9F8190-D303-487A-BF6E-56734DB309BA}"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1817121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27FE92-186A-455D-BFC0-E8946BD9876D}"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1929182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A9700-0452-444F-80F8-C0B8B1CE0427}" type="datetime1">
              <a:rPr lang="en-IN" smtClean="0"/>
              <a:t>10-04-2026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E97593-F042-4744-9F12-DEBDA7D57AA1}" type="slidenum">
              <a:rPr lang="en-IN" smtClean="0"/>
              <a:t>‹#›</a:t>
            </a:fld>
            <a:endParaRPr lang="en-IN"/>
          </a:p>
        </p:txBody>
      </p:sp>
    </p:spTree>
    <p:extLst>
      <p:ext uri="{BB962C8B-B14F-4D97-AF65-F5344CB8AC3E}">
        <p14:creationId xmlns:p14="http://schemas.microsoft.com/office/powerpoint/2010/main" val="289608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63F401F-60E3-4441-A8B4-AD4FD4A0607F}" type="datetime1">
              <a:rPr lang="en-IN" smtClean="0"/>
              <a:t>10-04-2026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AE97593-F042-4744-9F12-DEBDA7D57AA1}" type="slidenum">
              <a:rPr lang="en-IN" smtClean="0"/>
              <a:t>‹#›</a:t>
            </a:fld>
            <a:endParaRPr lang="en-IN"/>
          </a:p>
        </p:txBody>
      </p:sp>
    </p:spTree>
    <p:extLst>
      <p:ext uri="{BB962C8B-B14F-4D97-AF65-F5344CB8AC3E}">
        <p14:creationId xmlns:p14="http://schemas.microsoft.com/office/powerpoint/2010/main" val="21684108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mailto:%20sravani.ginamoni@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22253-8393-7A58-95B2-D8F1A6F3592F}"/>
              </a:ext>
            </a:extLst>
          </p:cNvPr>
          <p:cNvSpPr>
            <a:spLocks noGrp="1"/>
          </p:cNvSpPr>
          <p:nvPr>
            <p:ph type="ctrTitle"/>
          </p:nvPr>
        </p:nvSpPr>
        <p:spPr/>
        <p:txBody>
          <a:bodyPr/>
          <a:lstStyle/>
          <a:p>
            <a:r>
              <a:rPr lang="en-US" dirty="0"/>
              <a:t>Insurance Premium and Payout KPI Dashboard</a:t>
            </a:r>
            <a:endParaRPr lang="en-IN" dirty="0"/>
          </a:p>
        </p:txBody>
      </p:sp>
      <p:sp>
        <p:nvSpPr>
          <p:cNvPr id="3" name="Subtitle 2">
            <a:extLst>
              <a:ext uri="{FF2B5EF4-FFF2-40B4-BE49-F238E27FC236}">
                <a16:creationId xmlns:a16="http://schemas.microsoft.com/office/drawing/2014/main" id="{D5F517F9-3E34-257D-7D48-D1C1F0EA9D83}"/>
              </a:ext>
            </a:extLst>
          </p:cNvPr>
          <p:cNvSpPr>
            <a:spLocks noGrp="1"/>
          </p:cNvSpPr>
          <p:nvPr>
            <p:ph type="subTitle" idx="1"/>
          </p:nvPr>
        </p:nvSpPr>
        <p:spPr>
          <a:xfrm>
            <a:off x="344129" y="4050833"/>
            <a:ext cx="10340804" cy="1096899"/>
          </a:xfrm>
        </p:spPr>
        <p:txBody>
          <a:bodyPr/>
          <a:lstStyle/>
          <a:p>
            <a:r>
              <a:rPr lang="en-US" dirty="0" err="1"/>
              <a:t>Trusecure</a:t>
            </a:r>
            <a:r>
              <a:rPr lang="en-US" dirty="0"/>
              <a:t> CreDebit Insurance – Innovating Financial Protection for a Secure Tomorrow</a:t>
            </a:r>
            <a:endParaRPr lang="en-IN" dirty="0"/>
          </a:p>
        </p:txBody>
      </p:sp>
      <p:sp>
        <p:nvSpPr>
          <p:cNvPr id="4" name="TextBox 3">
            <a:extLst>
              <a:ext uri="{FF2B5EF4-FFF2-40B4-BE49-F238E27FC236}">
                <a16:creationId xmlns:a16="http://schemas.microsoft.com/office/drawing/2014/main" id="{41728294-2320-8CA4-837E-AE251FA80F4F}"/>
              </a:ext>
            </a:extLst>
          </p:cNvPr>
          <p:cNvSpPr txBox="1"/>
          <p:nvPr/>
        </p:nvSpPr>
        <p:spPr>
          <a:xfrm>
            <a:off x="4965290" y="5309419"/>
            <a:ext cx="2654710" cy="369332"/>
          </a:xfrm>
          <a:prstGeom prst="rect">
            <a:avLst/>
          </a:prstGeom>
          <a:noFill/>
        </p:spPr>
        <p:txBody>
          <a:bodyPr wrap="square" rtlCol="0">
            <a:spAutoFit/>
          </a:bodyPr>
          <a:lstStyle/>
          <a:p>
            <a:r>
              <a:rPr lang="en-US" dirty="0"/>
              <a:t>Presented By: Sravani G</a:t>
            </a:r>
            <a:endParaRPr lang="en-IN" dirty="0"/>
          </a:p>
        </p:txBody>
      </p:sp>
      <p:pic>
        <p:nvPicPr>
          <p:cNvPr id="8" name="Picture 7">
            <a:extLst>
              <a:ext uri="{FF2B5EF4-FFF2-40B4-BE49-F238E27FC236}">
                <a16:creationId xmlns:a16="http://schemas.microsoft.com/office/drawing/2014/main" id="{DAEE36A5-799F-8327-5F00-6EBA153280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7974" y="804992"/>
            <a:ext cx="1484671" cy="1332697"/>
          </a:xfrm>
          <a:prstGeom prst="rect">
            <a:avLst/>
          </a:prstGeom>
        </p:spPr>
      </p:pic>
      <p:sp>
        <p:nvSpPr>
          <p:cNvPr id="5" name="Slide Number Placeholder 4">
            <a:extLst>
              <a:ext uri="{FF2B5EF4-FFF2-40B4-BE49-F238E27FC236}">
                <a16:creationId xmlns:a16="http://schemas.microsoft.com/office/drawing/2014/main" id="{AAA192F3-D833-32B1-3C79-9D8984694963}"/>
              </a:ext>
            </a:extLst>
          </p:cNvPr>
          <p:cNvSpPr>
            <a:spLocks noGrp="1"/>
          </p:cNvSpPr>
          <p:nvPr>
            <p:ph type="sldNum" sz="quarter" idx="12"/>
          </p:nvPr>
        </p:nvSpPr>
        <p:spPr/>
        <p:txBody>
          <a:bodyPr/>
          <a:lstStyle/>
          <a:p>
            <a:fld id="{AAE97593-F042-4744-9F12-DEBDA7D57AA1}" type="slidenum">
              <a:rPr lang="en-IN" smtClean="0"/>
              <a:t>1</a:t>
            </a:fld>
            <a:endParaRPr lang="en-IN"/>
          </a:p>
        </p:txBody>
      </p:sp>
    </p:spTree>
    <p:extLst>
      <p:ext uri="{BB962C8B-B14F-4D97-AF65-F5344CB8AC3E}">
        <p14:creationId xmlns:p14="http://schemas.microsoft.com/office/powerpoint/2010/main" val="1966429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14237-21CA-7817-DE2A-80D36E0DD1D0}"/>
              </a:ext>
            </a:extLst>
          </p:cNvPr>
          <p:cNvSpPr>
            <a:spLocks noGrp="1"/>
          </p:cNvSpPr>
          <p:nvPr>
            <p:ph type="title"/>
          </p:nvPr>
        </p:nvSpPr>
        <p:spPr>
          <a:xfrm>
            <a:off x="677334" y="609600"/>
            <a:ext cx="8596668" cy="698090"/>
          </a:xfrm>
        </p:spPr>
        <p:txBody>
          <a:bodyPr/>
          <a:lstStyle/>
          <a:p>
            <a:r>
              <a:rPr lang="en-US" dirty="0"/>
              <a:t>Contents</a:t>
            </a:r>
            <a:endParaRPr lang="en-IN" dirty="0"/>
          </a:p>
        </p:txBody>
      </p:sp>
      <p:sp>
        <p:nvSpPr>
          <p:cNvPr id="3" name="Content Placeholder 2">
            <a:extLst>
              <a:ext uri="{FF2B5EF4-FFF2-40B4-BE49-F238E27FC236}">
                <a16:creationId xmlns:a16="http://schemas.microsoft.com/office/drawing/2014/main" id="{CD00D47F-6E86-AA24-1D8A-1CEA4B10C5F0}"/>
              </a:ext>
            </a:extLst>
          </p:cNvPr>
          <p:cNvSpPr>
            <a:spLocks noGrp="1"/>
          </p:cNvSpPr>
          <p:nvPr>
            <p:ph idx="1"/>
          </p:nvPr>
        </p:nvSpPr>
        <p:spPr>
          <a:xfrm>
            <a:off x="677334" y="1307691"/>
            <a:ext cx="8596668" cy="4733672"/>
          </a:xfrm>
        </p:spPr>
        <p:txBody>
          <a:bodyPr/>
          <a:lstStyle/>
          <a:p>
            <a:r>
              <a:rPr lang="en-US" dirty="0"/>
              <a:t>1. Problem Statement</a:t>
            </a:r>
          </a:p>
          <a:p>
            <a:r>
              <a:rPr lang="en-US" dirty="0"/>
              <a:t>2.Tools used</a:t>
            </a:r>
          </a:p>
          <a:p>
            <a:r>
              <a:rPr lang="en-US" dirty="0"/>
              <a:t>3.Key Metrics</a:t>
            </a:r>
          </a:p>
          <a:p>
            <a:r>
              <a:rPr lang="en-US" dirty="0"/>
              <a:t>4.Premium Breakdown</a:t>
            </a:r>
          </a:p>
          <a:p>
            <a:r>
              <a:rPr lang="en-US" dirty="0"/>
              <a:t>5.Geographic &amp; demographic Performance</a:t>
            </a:r>
          </a:p>
          <a:p>
            <a:r>
              <a:rPr lang="en-US" dirty="0"/>
              <a:t>6.Sales Agent Performance</a:t>
            </a:r>
          </a:p>
          <a:p>
            <a:r>
              <a:rPr lang="en-US" dirty="0"/>
              <a:t>7.Investment Performance and ROI Trends</a:t>
            </a:r>
          </a:p>
          <a:p>
            <a:r>
              <a:rPr lang="en-US" dirty="0"/>
              <a:t>8.Future Cash Flow and ROI forecast</a:t>
            </a:r>
          </a:p>
          <a:p>
            <a:r>
              <a:rPr lang="en-US" dirty="0"/>
              <a:t>9.Insights</a:t>
            </a:r>
          </a:p>
          <a:p>
            <a:endParaRPr lang="en-US" dirty="0"/>
          </a:p>
          <a:p>
            <a:endParaRPr lang="en-US" dirty="0"/>
          </a:p>
          <a:p>
            <a:endParaRPr lang="en-US" dirty="0"/>
          </a:p>
          <a:p>
            <a:endParaRPr lang="en-IN" dirty="0"/>
          </a:p>
        </p:txBody>
      </p:sp>
      <p:sp>
        <p:nvSpPr>
          <p:cNvPr id="4" name="Slide Number Placeholder 3">
            <a:extLst>
              <a:ext uri="{FF2B5EF4-FFF2-40B4-BE49-F238E27FC236}">
                <a16:creationId xmlns:a16="http://schemas.microsoft.com/office/drawing/2014/main" id="{3A90ED72-4191-AC11-9D6A-B2F2E8D15A83}"/>
              </a:ext>
            </a:extLst>
          </p:cNvPr>
          <p:cNvSpPr>
            <a:spLocks noGrp="1"/>
          </p:cNvSpPr>
          <p:nvPr>
            <p:ph type="sldNum" sz="quarter" idx="12"/>
          </p:nvPr>
        </p:nvSpPr>
        <p:spPr/>
        <p:txBody>
          <a:bodyPr/>
          <a:lstStyle/>
          <a:p>
            <a:fld id="{AAE97593-F042-4744-9F12-DEBDA7D57AA1}" type="slidenum">
              <a:rPr lang="en-IN" smtClean="0"/>
              <a:t>2</a:t>
            </a:fld>
            <a:endParaRPr lang="en-IN"/>
          </a:p>
        </p:txBody>
      </p:sp>
    </p:spTree>
    <p:extLst>
      <p:ext uri="{BB962C8B-B14F-4D97-AF65-F5344CB8AC3E}">
        <p14:creationId xmlns:p14="http://schemas.microsoft.com/office/powerpoint/2010/main" val="898141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4F79-E7FA-94F2-EFB0-F7682033BFE0}"/>
              </a:ext>
            </a:extLst>
          </p:cNvPr>
          <p:cNvSpPr>
            <a:spLocks noGrp="1"/>
          </p:cNvSpPr>
          <p:nvPr>
            <p:ph type="title"/>
          </p:nvPr>
        </p:nvSpPr>
        <p:spPr/>
        <p:txBody>
          <a:bodyPr/>
          <a:lstStyle/>
          <a:p>
            <a:r>
              <a:rPr lang="en-US" dirty="0"/>
              <a:t>1.Problem Statement</a:t>
            </a:r>
            <a:endParaRPr lang="en-IN" dirty="0"/>
          </a:p>
        </p:txBody>
      </p:sp>
      <p:sp>
        <p:nvSpPr>
          <p:cNvPr id="3" name="Content Placeholder 2">
            <a:extLst>
              <a:ext uri="{FF2B5EF4-FFF2-40B4-BE49-F238E27FC236}">
                <a16:creationId xmlns:a16="http://schemas.microsoft.com/office/drawing/2014/main" id="{A0AD29D3-58FE-E6DC-58D4-964FB49C3675}"/>
              </a:ext>
            </a:extLst>
          </p:cNvPr>
          <p:cNvSpPr>
            <a:spLocks noGrp="1"/>
          </p:cNvSpPr>
          <p:nvPr>
            <p:ph idx="1"/>
          </p:nvPr>
        </p:nvSpPr>
        <p:spPr>
          <a:xfrm>
            <a:off x="677334" y="1337187"/>
            <a:ext cx="8596668" cy="4704175"/>
          </a:xfrm>
        </p:spPr>
        <p:txBody>
          <a:bodyPr>
            <a:normAutofit lnSpcReduction="10000"/>
          </a:bodyPr>
          <a:lstStyle/>
          <a:p>
            <a:r>
              <a:rPr lang="en-US" dirty="0">
                <a:latin typeface="Times New Roman" panose="02020603050405020304" pitchFamily="18" charset="0"/>
                <a:cs typeface="Times New Roman" panose="02020603050405020304" pitchFamily="18" charset="0"/>
              </a:rPr>
              <a:t>TruSecure CreDebit Insurance manages a complex portfolio of policies from 2015 to 2025, yet critical data on policy creation, tenure, customer details, claims, loan information, and maturity calculations remains fragmented across multiple systems. Without a unified view, stakeholders struggle to track overall business performance, analyze claim trends, or accurately forecast maturity amounts, leading to delayed and reactive decision making. The organization lacks real-time visibility into how different policy types perform across customer segments and states, making it difficult to identify top-performing plans or flag products with low uptake for timely intervention. Additionally, claim settlement performance and process inefficiencies are not actively monitored, which impacts customer satisfaction and increases operational costs. Sales, claims, and loan servicing teams operate without shared, transparent KPIs, resulting in inconsistent accountability and performance gaps across business units. Because reporting is manual, data quickly becomes outdated and stakeholders cannot access the latest insights needed for premium collection, payout planning, and risk management. To address these challenges, TruSecure requires an automated, interactive Power BI dashboard that consolidates the complete policy lifecycle into a single source of truth, enabling real-time analysis by policy type, state, and segment while driving accountability and faster strategic decisions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F5D29AB-DA9C-8850-14CA-4C661075A516}"/>
              </a:ext>
            </a:extLst>
          </p:cNvPr>
          <p:cNvSpPr>
            <a:spLocks noGrp="1"/>
          </p:cNvSpPr>
          <p:nvPr>
            <p:ph type="sldNum" sz="quarter" idx="12"/>
          </p:nvPr>
        </p:nvSpPr>
        <p:spPr/>
        <p:txBody>
          <a:bodyPr/>
          <a:lstStyle/>
          <a:p>
            <a:fld id="{AAE97593-F042-4744-9F12-DEBDA7D57AA1}" type="slidenum">
              <a:rPr lang="en-IN" smtClean="0"/>
              <a:t>3</a:t>
            </a:fld>
            <a:endParaRPr lang="en-IN"/>
          </a:p>
        </p:txBody>
      </p:sp>
    </p:spTree>
    <p:extLst>
      <p:ext uri="{BB962C8B-B14F-4D97-AF65-F5344CB8AC3E}">
        <p14:creationId xmlns:p14="http://schemas.microsoft.com/office/powerpoint/2010/main" val="306288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954B3-EC82-CA18-8216-43D524EB04ED}"/>
              </a:ext>
            </a:extLst>
          </p:cNvPr>
          <p:cNvSpPr>
            <a:spLocks noGrp="1"/>
          </p:cNvSpPr>
          <p:nvPr>
            <p:ph type="title"/>
          </p:nvPr>
        </p:nvSpPr>
        <p:spPr/>
        <p:txBody>
          <a:bodyPr/>
          <a:lstStyle/>
          <a:p>
            <a:r>
              <a:rPr lang="en-US" dirty="0"/>
              <a:t>2.Tools Used</a:t>
            </a:r>
            <a:endParaRPr lang="en-IN" dirty="0"/>
          </a:p>
        </p:txBody>
      </p:sp>
      <p:sp>
        <p:nvSpPr>
          <p:cNvPr id="3" name="Content Placeholder 2">
            <a:extLst>
              <a:ext uri="{FF2B5EF4-FFF2-40B4-BE49-F238E27FC236}">
                <a16:creationId xmlns:a16="http://schemas.microsoft.com/office/drawing/2014/main" id="{20FE14B0-386E-92D8-6CF0-300441D62C85}"/>
              </a:ext>
            </a:extLst>
          </p:cNvPr>
          <p:cNvSpPr>
            <a:spLocks noGrp="1"/>
          </p:cNvSpPr>
          <p:nvPr>
            <p:ph idx="1"/>
          </p:nvPr>
        </p:nvSpPr>
        <p:spPr>
          <a:xfrm>
            <a:off x="677334" y="2160589"/>
            <a:ext cx="8596668" cy="1320801"/>
          </a:xfrm>
        </p:spPr>
        <p:txBody>
          <a:bodyPr/>
          <a:lstStyle/>
          <a:p>
            <a:r>
              <a:rPr lang="en-US" dirty="0"/>
              <a:t>Power Bi(DAX)</a:t>
            </a:r>
          </a:p>
          <a:p>
            <a:r>
              <a:rPr lang="en-US" dirty="0"/>
              <a:t>MS Excel</a:t>
            </a:r>
          </a:p>
          <a:p>
            <a:endParaRPr lang="en-IN" dirty="0"/>
          </a:p>
        </p:txBody>
      </p:sp>
      <p:sp>
        <p:nvSpPr>
          <p:cNvPr id="4" name="Slide Number Placeholder 3">
            <a:extLst>
              <a:ext uri="{FF2B5EF4-FFF2-40B4-BE49-F238E27FC236}">
                <a16:creationId xmlns:a16="http://schemas.microsoft.com/office/drawing/2014/main" id="{1B2E5326-F626-F176-BAC7-AB7DF3DD256A}"/>
              </a:ext>
            </a:extLst>
          </p:cNvPr>
          <p:cNvSpPr>
            <a:spLocks noGrp="1"/>
          </p:cNvSpPr>
          <p:nvPr>
            <p:ph type="sldNum" sz="quarter" idx="12"/>
          </p:nvPr>
        </p:nvSpPr>
        <p:spPr/>
        <p:txBody>
          <a:bodyPr/>
          <a:lstStyle/>
          <a:p>
            <a:fld id="{AAE97593-F042-4744-9F12-DEBDA7D57AA1}" type="slidenum">
              <a:rPr lang="en-IN" smtClean="0"/>
              <a:t>4</a:t>
            </a:fld>
            <a:endParaRPr lang="en-IN"/>
          </a:p>
        </p:txBody>
      </p:sp>
    </p:spTree>
    <p:extLst>
      <p:ext uri="{BB962C8B-B14F-4D97-AF65-F5344CB8AC3E}">
        <p14:creationId xmlns:p14="http://schemas.microsoft.com/office/powerpoint/2010/main" val="300621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2F846-BB7C-3642-FF0A-AB34C2EA1BAC}"/>
              </a:ext>
            </a:extLst>
          </p:cNvPr>
          <p:cNvSpPr>
            <a:spLocks noGrp="1"/>
          </p:cNvSpPr>
          <p:nvPr>
            <p:ph type="title"/>
          </p:nvPr>
        </p:nvSpPr>
        <p:spPr/>
        <p:txBody>
          <a:bodyPr/>
          <a:lstStyle/>
          <a:p>
            <a:r>
              <a:rPr lang="en-US" dirty="0"/>
              <a:t>3.Key Metrics</a:t>
            </a:r>
            <a:endParaRPr lang="en-IN" dirty="0"/>
          </a:p>
        </p:txBody>
      </p:sp>
      <p:graphicFrame>
        <p:nvGraphicFramePr>
          <p:cNvPr id="4" name="Content Placeholder 3">
            <a:extLst>
              <a:ext uri="{FF2B5EF4-FFF2-40B4-BE49-F238E27FC236}">
                <a16:creationId xmlns:a16="http://schemas.microsoft.com/office/drawing/2014/main" id="{1E35BC36-2298-CFD6-E07E-FCD711E7BCB0}"/>
              </a:ext>
            </a:extLst>
          </p:cNvPr>
          <p:cNvGraphicFramePr>
            <a:graphicFrameLocks noGrp="1"/>
          </p:cNvGraphicFramePr>
          <p:nvPr>
            <p:ph idx="1"/>
            <p:extLst>
              <p:ext uri="{D42A27DB-BD31-4B8C-83A1-F6EECF244321}">
                <p14:modId xmlns:p14="http://schemas.microsoft.com/office/powerpoint/2010/main" val="3754080934"/>
              </p:ext>
            </p:extLst>
          </p:nvPr>
        </p:nvGraphicFramePr>
        <p:xfrm>
          <a:off x="1041657" y="2331721"/>
          <a:ext cx="8596312" cy="2595880"/>
        </p:xfrm>
        <a:graphic>
          <a:graphicData uri="http://schemas.openxmlformats.org/drawingml/2006/table">
            <a:tbl>
              <a:tblPr firstRow="1" bandRow="1">
                <a:tableStyleId>{5C22544A-7EE6-4342-B048-85BDC9FD1C3A}</a:tableStyleId>
              </a:tblPr>
              <a:tblGrid>
                <a:gridCol w="4316924">
                  <a:extLst>
                    <a:ext uri="{9D8B030D-6E8A-4147-A177-3AD203B41FA5}">
                      <a16:colId xmlns:a16="http://schemas.microsoft.com/office/drawing/2014/main" val="358206330"/>
                    </a:ext>
                  </a:extLst>
                </a:gridCol>
                <a:gridCol w="4279388">
                  <a:extLst>
                    <a:ext uri="{9D8B030D-6E8A-4147-A177-3AD203B41FA5}">
                      <a16:colId xmlns:a16="http://schemas.microsoft.com/office/drawing/2014/main" val="1807630334"/>
                    </a:ext>
                  </a:extLst>
                </a:gridCol>
              </a:tblGrid>
              <a:tr h="370840">
                <a:tc>
                  <a:txBody>
                    <a:bodyPr/>
                    <a:lstStyle/>
                    <a:p>
                      <a:pPr algn="ctr"/>
                      <a:r>
                        <a:rPr lang="en-US" dirty="0"/>
                        <a:t>Metric</a:t>
                      </a:r>
                      <a:endParaRPr lang="en-IN" dirty="0"/>
                    </a:p>
                  </a:txBody>
                  <a:tcPr/>
                </a:tc>
                <a:tc>
                  <a:txBody>
                    <a:bodyPr/>
                    <a:lstStyle/>
                    <a:p>
                      <a:pPr algn="ctr"/>
                      <a:r>
                        <a:rPr lang="en-US" dirty="0"/>
                        <a:t>Value</a:t>
                      </a:r>
                      <a:endParaRPr lang="en-IN" dirty="0"/>
                    </a:p>
                  </a:txBody>
                  <a:tcPr/>
                </a:tc>
                <a:extLst>
                  <a:ext uri="{0D108BD9-81ED-4DB2-BD59-A6C34878D82A}">
                    <a16:rowId xmlns:a16="http://schemas.microsoft.com/office/drawing/2014/main" val="1105650686"/>
                  </a:ext>
                </a:extLst>
              </a:tr>
              <a:tr h="370840">
                <a:tc>
                  <a:txBody>
                    <a:bodyPr/>
                    <a:lstStyle/>
                    <a:p>
                      <a:r>
                        <a:rPr lang="en-US" dirty="0"/>
                        <a:t>No. of policies</a:t>
                      </a:r>
                      <a:endParaRPr lang="en-IN" dirty="0"/>
                    </a:p>
                  </a:txBody>
                  <a:tcPr/>
                </a:tc>
                <a:tc>
                  <a:txBody>
                    <a:bodyPr/>
                    <a:lstStyle/>
                    <a:p>
                      <a:r>
                        <a:rPr lang="en-US" dirty="0">
                          <a:latin typeface="Times New Roman" panose="02020603050405020304" pitchFamily="18" charset="0"/>
                          <a:cs typeface="Times New Roman" panose="02020603050405020304" pitchFamily="18" charset="0"/>
                        </a:rPr>
                        <a:t>7,299</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44871597"/>
                  </a:ext>
                </a:extLst>
              </a:tr>
              <a:tr h="370840">
                <a:tc>
                  <a:txBody>
                    <a:bodyPr/>
                    <a:lstStyle/>
                    <a:p>
                      <a:r>
                        <a:rPr lang="en-US" dirty="0"/>
                        <a:t>Total Annual Premium</a:t>
                      </a:r>
                      <a:endParaRPr lang="en-IN" dirty="0"/>
                    </a:p>
                  </a:txBody>
                  <a:tcPr/>
                </a:tc>
                <a:tc>
                  <a:txBody>
                    <a:bodyPr/>
                    <a:lstStyle/>
                    <a:p>
                      <a:r>
                        <a:rPr lang="en-US" dirty="0">
                          <a:latin typeface="Times New Roman" panose="02020603050405020304" pitchFamily="18" charset="0"/>
                          <a:cs typeface="Times New Roman" panose="02020603050405020304" pitchFamily="18" charset="0"/>
                        </a:rPr>
                        <a:t>2,161.60M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85306084"/>
                  </a:ext>
                </a:extLst>
              </a:tr>
              <a:tr h="370840">
                <a:tc>
                  <a:txBody>
                    <a:bodyPr/>
                    <a:lstStyle/>
                    <a:p>
                      <a:r>
                        <a:rPr lang="en-US" dirty="0"/>
                        <a:t>Total Premium Amount</a:t>
                      </a:r>
                      <a:endParaRPr lang="en-IN" dirty="0"/>
                    </a:p>
                  </a:txBody>
                  <a:tcPr/>
                </a:tc>
                <a:tc>
                  <a:txBody>
                    <a:bodyPr/>
                    <a:lstStyle/>
                    <a:p>
                      <a:r>
                        <a:rPr lang="en-US" dirty="0">
                          <a:latin typeface="Times New Roman" panose="02020603050405020304" pitchFamily="18" charset="0"/>
                          <a:cs typeface="Times New Roman" panose="02020603050405020304" pitchFamily="18" charset="0"/>
                        </a:rPr>
                        <a:t>39,096.58M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5916374"/>
                  </a:ext>
                </a:extLst>
              </a:tr>
              <a:tr h="370840">
                <a:tc>
                  <a:txBody>
                    <a:bodyPr/>
                    <a:lstStyle/>
                    <a:p>
                      <a:r>
                        <a:rPr lang="en-US" dirty="0"/>
                        <a:t>Total Premium paid</a:t>
                      </a:r>
                      <a:endParaRPr lang="en-IN" dirty="0"/>
                    </a:p>
                  </a:txBody>
                  <a:tcPr/>
                </a:tc>
                <a:tc>
                  <a:txBody>
                    <a:bodyPr/>
                    <a:lstStyle/>
                    <a:p>
                      <a:r>
                        <a:rPr lang="en-US" dirty="0">
                          <a:latin typeface="Times New Roman" panose="02020603050405020304" pitchFamily="18" charset="0"/>
                          <a:cs typeface="Times New Roman" panose="02020603050405020304" pitchFamily="18" charset="0"/>
                        </a:rPr>
                        <a:t>10,686.35M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21471100"/>
                  </a:ext>
                </a:extLst>
              </a:tr>
              <a:tr h="370840">
                <a:tc>
                  <a:txBody>
                    <a:bodyPr/>
                    <a:lstStyle/>
                    <a:p>
                      <a:r>
                        <a:rPr lang="en-US" dirty="0"/>
                        <a:t>Total Premium Payable</a:t>
                      </a:r>
                      <a:endParaRPr lang="en-IN" dirty="0"/>
                    </a:p>
                  </a:txBody>
                  <a:tcPr/>
                </a:tc>
                <a:tc>
                  <a:txBody>
                    <a:bodyPr/>
                    <a:lstStyle/>
                    <a:p>
                      <a:r>
                        <a:rPr lang="en-US" dirty="0">
                          <a:latin typeface="Times New Roman" panose="02020603050405020304" pitchFamily="18" charset="0"/>
                          <a:cs typeface="Times New Roman" panose="02020603050405020304" pitchFamily="18" charset="0"/>
                        </a:rPr>
                        <a:t>28,410.24M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25659384"/>
                  </a:ext>
                </a:extLst>
              </a:tr>
              <a:tr h="370840">
                <a:tc>
                  <a:txBody>
                    <a:bodyPr/>
                    <a:lstStyle/>
                    <a:p>
                      <a:r>
                        <a:rPr lang="en-US" dirty="0"/>
                        <a:t>Underwriting Expenses</a:t>
                      </a:r>
                      <a:endParaRPr lang="en-IN" dirty="0"/>
                    </a:p>
                  </a:txBody>
                  <a:tcPr/>
                </a:tc>
                <a:tc>
                  <a:txBody>
                    <a:bodyPr/>
                    <a:lstStyle/>
                    <a:p>
                      <a:r>
                        <a:rPr lang="en-US" dirty="0">
                          <a:latin typeface="Times New Roman" panose="02020603050405020304" pitchFamily="18" charset="0"/>
                          <a:cs typeface="Times New Roman" panose="02020603050405020304" pitchFamily="18" charset="0"/>
                        </a:rPr>
                        <a:t>38.66M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297127"/>
                  </a:ext>
                </a:extLst>
              </a:tr>
            </a:tbl>
          </a:graphicData>
        </a:graphic>
      </p:graphicFrame>
      <p:sp>
        <p:nvSpPr>
          <p:cNvPr id="5" name="TextBox 4">
            <a:extLst>
              <a:ext uri="{FF2B5EF4-FFF2-40B4-BE49-F238E27FC236}">
                <a16:creationId xmlns:a16="http://schemas.microsoft.com/office/drawing/2014/main" id="{484E9039-98BD-281B-7EBF-0EE86EBAF2A4}"/>
              </a:ext>
            </a:extLst>
          </p:cNvPr>
          <p:cNvSpPr txBox="1"/>
          <p:nvPr/>
        </p:nvSpPr>
        <p:spPr>
          <a:xfrm>
            <a:off x="904567" y="5427406"/>
            <a:ext cx="9035845" cy="369332"/>
          </a:xfrm>
          <a:prstGeom prst="rect">
            <a:avLst/>
          </a:prstGeom>
          <a:noFill/>
        </p:spPr>
        <p:txBody>
          <a:bodyPr wrap="square" rtlCol="0">
            <a:spAutoFit/>
          </a:bodyPr>
          <a:lstStyle/>
          <a:p>
            <a:r>
              <a:rPr lang="en-US" dirty="0">
                <a:latin typeface="Arial Black" panose="020B0A04020102020204" pitchFamily="34" charset="0"/>
              </a:rPr>
              <a:t>63.82% of premium has been paid, with 36.18% payable in 5 Years.</a:t>
            </a:r>
            <a:endParaRPr lang="en-IN" dirty="0">
              <a:latin typeface="Arial Black" panose="020B0A04020102020204" pitchFamily="34" charset="0"/>
            </a:endParaRPr>
          </a:p>
        </p:txBody>
      </p:sp>
      <p:sp>
        <p:nvSpPr>
          <p:cNvPr id="3" name="Slide Number Placeholder 2">
            <a:extLst>
              <a:ext uri="{FF2B5EF4-FFF2-40B4-BE49-F238E27FC236}">
                <a16:creationId xmlns:a16="http://schemas.microsoft.com/office/drawing/2014/main" id="{A8FB26A0-08C0-9862-17E9-2A2FC996E1F0}"/>
              </a:ext>
            </a:extLst>
          </p:cNvPr>
          <p:cNvSpPr>
            <a:spLocks noGrp="1"/>
          </p:cNvSpPr>
          <p:nvPr>
            <p:ph type="sldNum" sz="quarter" idx="12"/>
          </p:nvPr>
        </p:nvSpPr>
        <p:spPr/>
        <p:txBody>
          <a:bodyPr/>
          <a:lstStyle/>
          <a:p>
            <a:fld id="{AAE97593-F042-4744-9F12-DEBDA7D57AA1}" type="slidenum">
              <a:rPr lang="en-IN" smtClean="0"/>
              <a:t>5</a:t>
            </a:fld>
            <a:endParaRPr lang="en-IN"/>
          </a:p>
        </p:txBody>
      </p:sp>
    </p:spTree>
    <p:extLst>
      <p:ext uri="{BB962C8B-B14F-4D97-AF65-F5344CB8AC3E}">
        <p14:creationId xmlns:p14="http://schemas.microsoft.com/office/powerpoint/2010/main" val="1492244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D36E-313F-5047-E85C-5D818533008C}"/>
              </a:ext>
            </a:extLst>
          </p:cNvPr>
          <p:cNvSpPr>
            <a:spLocks noGrp="1"/>
          </p:cNvSpPr>
          <p:nvPr>
            <p:ph type="title"/>
          </p:nvPr>
        </p:nvSpPr>
        <p:spPr/>
        <p:txBody>
          <a:bodyPr/>
          <a:lstStyle/>
          <a:p>
            <a:r>
              <a:rPr lang="en-US" dirty="0"/>
              <a:t>4.Premium Breakdown By Product</a:t>
            </a:r>
            <a:endParaRPr lang="en-IN" dirty="0"/>
          </a:p>
        </p:txBody>
      </p:sp>
      <p:sp>
        <p:nvSpPr>
          <p:cNvPr id="3" name="Content Placeholder 2">
            <a:extLst>
              <a:ext uri="{FF2B5EF4-FFF2-40B4-BE49-F238E27FC236}">
                <a16:creationId xmlns:a16="http://schemas.microsoft.com/office/drawing/2014/main" id="{26C5C25E-CBBF-D552-5C82-5EC84327E810}"/>
              </a:ext>
            </a:extLst>
          </p:cNvPr>
          <p:cNvSpPr>
            <a:spLocks noGrp="1"/>
          </p:cNvSpPr>
          <p:nvPr>
            <p:ph idx="1"/>
          </p:nvPr>
        </p:nvSpPr>
        <p:spPr>
          <a:xfrm>
            <a:off x="677334" y="1433002"/>
            <a:ext cx="5507156" cy="582611"/>
          </a:xfrm>
        </p:spPr>
        <p:txBody>
          <a:bodyPr/>
          <a:lstStyle/>
          <a:p>
            <a:r>
              <a:rPr lang="en-US" dirty="0"/>
              <a:t>What Products Drive Our Premium ?</a:t>
            </a:r>
            <a:endParaRPr lang="en-IN" dirty="0"/>
          </a:p>
        </p:txBody>
      </p:sp>
      <p:sp>
        <p:nvSpPr>
          <p:cNvPr id="4" name="TextBox 3">
            <a:extLst>
              <a:ext uri="{FF2B5EF4-FFF2-40B4-BE49-F238E27FC236}">
                <a16:creationId xmlns:a16="http://schemas.microsoft.com/office/drawing/2014/main" id="{875B0B1F-4683-F590-FE69-3555FC606C2E}"/>
              </a:ext>
            </a:extLst>
          </p:cNvPr>
          <p:cNvSpPr txBox="1"/>
          <p:nvPr/>
        </p:nvSpPr>
        <p:spPr>
          <a:xfrm>
            <a:off x="1081549" y="4842388"/>
            <a:ext cx="8504903" cy="646331"/>
          </a:xfrm>
          <a:prstGeom prst="rect">
            <a:avLst/>
          </a:prstGeom>
          <a:noFill/>
        </p:spPr>
        <p:txBody>
          <a:bodyPr wrap="square" rtlCol="0">
            <a:spAutoFit/>
          </a:bodyPr>
          <a:lstStyle/>
          <a:p>
            <a:r>
              <a:rPr lang="en-US" dirty="0"/>
              <a:t>ULIP Growth Plan and Jeevan Suraksha are flagship products, driving 56% of annual premium</a:t>
            </a:r>
            <a:endParaRPr lang="en-IN" dirty="0"/>
          </a:p>
        </p:txBody>
      </p:sp>
      <p:pic>
        <p:nvPicPr>
          <p:cNvPr id="6" name="Picture 5">
            <a:extLst>
              <a:ext uri="{FF2B5EF4-FFF2-40B4-BE49-F238E27FC236}">
                <a16:creationId xmlns:a16="http://schemas.microsoft.com/office/drawing/2014/main" id="{CABD39C6-37D9-B26C-77F0-D34D02C4C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687" y="2009058"/>
            <a:ext cx="7363853" cy="2523335"/>
          </a:xfrm>
          <a:prstGeom prst="rect">
            <a:avLst/>
          </a:prstGeom>
        </p:spPr>
      </p:pic>
      <p:sp>
        <p:nvSpPr>
          <p:cNvPr id="5" name="Slide Number Placeholder 4">
            <a:extLst>
              <a:ext uri="{FF2B5EF4-FFF2-40B4-BE49-F238E27FC236}">
                <a16:creationId xmlns:a16="http://schemas.microsoft.com/office/drawing/2014/main" id="{A5887F68-EEE9-F43F-DB22-85C1E25435CD}"/>
              </a:ext>
            </a:extLst>
          </p:cNvPr>
          <p:cNvSpPr>
            <a:spLocks noGrp="1"/>
          </p:cNvSpPr>
          <p:nvPr>
            <p:ph type="sldNum" sz="quarter" idx="12"/>
          </p:nvPr>
        </p:nvSpPr>
        <p:spPr/>
        <p:txBody>
          <a:bodyPr/>
          <a:lstStyle/>
          <a:p>
            <a:fld id="{AAE97593-F042-4744-9F12-DEBDA7D57AA1}" type="slidenum">
              <a:rPr lang="en-IN" smtClean="0"/>
              <a:t>6</a:t>
            </a:fld>
            <a:endParaRPr lang="en-IN"/>
          </a:p>
        </p:txBody>
      </p:sp>
    </p:spTree>
    <p:extLst>
      <p:ext uri="{BB962C8B-B14F-4D97-AF65-F5344CB8AC3E}">
        <p14:creationId xmlns:p14="http://schemas.microsoft.com/office/powerpoint/2010/main" val="3443567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CE776-50B5-77DB-011A-427C17933EE3}"/>
              </a:ext>
            </a:extLst>
          </p:cNvPr>
          <p:cNvSpPr>
            <a:spLocks noGrp="1"/>
          </p:cNvSpPr>
          <p:nvPr>
            <p:ph type="title"/>
          </p:nvPr>
        </p:nvSpPr>
        <p:spPr>
          <a:xfrm>
            <a:off x="677334" y="609600"/>
            <a:ext cx="8596668" cy="717755"/>
          </a:xfrm>
        </p:spPr>
        <p:txBody>
          <a:bodyPr>
            <a:normAutofit fontScale="90000"/>
          </a:bodyPr>
          <a:lstStyle/>
          <a:p>
            <a:r>
              <a:rPr lang="en-US" dirty="0"/>
              <a:t>5.Geographic &amp; Demographic Performance</a:t>
            </a:r>
            <a:endParaRPr lang="en-IN" dirty="0"/>
          </a:p>
        </p:txBody>
      </p:sp>
      <p:sp>
        <p:nvSpPr>
          <p:cNvPr id="3" name="Content Placeholder 2">
            <a:extLst>
              <a:ext uri="{FF2B5EF4-FFF2-40B4-BE49-F238E27FC236}">
                <a16:creationId xmlns:a16="http://schemas.microsoft.com/office/drawing/2014/main" id="{F99D9C20-D2F4-6E48-B656-F3ABE6105CD0}"/>
              </a:ext>
            </a:extLst>
          </p:cNvPr>
          <p:cNvSpPr>
            <a:spLocks noGrp="1"/>
          </p:cNvSpPr>
          <p:nvPr>
            <p:ph idx="1"/>
          </p:nvPr>
        </p:nvSpPr>
        <p:spPr>
          <a:xfrm>
            <a:off x="814986" y="1488614"/>
            <a:ext cx="8596668" cy="3211206"/>
          </a:xfrm>
        </p:spPr>
        <p:txBody>
          <a:bodyPr/>
          <a:lstStyle/>
          <a:p>
            <a:r>
              <a:rPr lang="en-US" dirty="0"/>
              <a:t>Where &amp; Who Is Buying ?</a:t>
            </a:r>
            <a:endParaRPr lang="en-IN" dirty="0"/>
          </a:p>
        </p:txBody>
      </p:sp>
      <p:pic>
        <p:nvPicPr>
          <p:cNvPr id="5" name="Picture 4">
            <a:extLst>
              <a:ext uri="{FF2B5EF4-FFF2-40B4-BE49-F238E27FC236}">
                <a16:creationId xmlns:a16="http://schemas.microsoft.com/office/drawing/2014/main" id="{203B4217-4A37-29ED-0CDE-D3CF24387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185" y="2057382"/>
            <a:ext cx="3372321" cy="2448267"/>
          </a:xfrm>
          <a:prstGeom prst="rect">
            <a:avLst/>
          </a:prstGeom>
        </p:spPr>
      </p:pic>
      <p:pic>
        <p:nvPicPr>
          <p:cNvPr id="7" name="Picture 6">
            <a:extLst>
              <a:ext uri="{FF2B5EF4-FFF2-40B4-BE49-F238E27FC236}">
                <a16:creationId xmlns:a16="http://schemas.microsoft.com/office/drawing/2014/main" id="{07E10FD1-3AA0-1A73-DC4C-28DB8D8B2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7648" y="2057381"/>
            <a:ext cx="4344006" cy="2448267"/>
          </a:xfrm>
          <a:prstGeom prst="rect">
            <a:avLst/>
          </a:prstGeom>
        </p:spPr>
      </p:pic>
      <p:sp>
        <p:nvSpPr>
          <p:cNvPr id="8" name="TextBox 7">
            <a:extLst>
              <a:ext uri="{FF2B5EF4-FFF2-40B4-BE49-F238E27FC236}">
                <a16:creationId xmlns:a16="http://schemas.microsoft.com/office/drawing/2014/main" id="{37FDCCD5-BE70-6CC1-3F1C-D796824C9063}"/>
              </a:ext>
            </a:extLst>
          </p:cNvPr>
          <p:cNvSpPr txBox="1"/>
          <p:nvPr/>
        </p:nvSpPr>
        <p:spPr>
          <a:xfrm>
            <a:off x="796413" y="5004619"/>
            <a:ext cx="8615241"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Theater Stage Manager, Horticultural therapist, Furniture Designers are the top occupations.</a:t>
            </a:r>
          </a:p>
          <a:p>
            <a:pPr marL="285750" indent="-285750">
              <a:buFont typeface="Arial" panose="020B0604020202020204" pitchFamily="34" charset="0"/>
              <a:buChar char="•"/>
            </a:pPr>
            <a:r>
              <a:rPr lang="en-US" dirty="0"/>
              <a:t>North India Dominates revenue.</a:t>
            </a:r>
            <a:endParaRPr lang="en-IN" dirty="0"/>
          </a:p>
        </p:txBody>
      </p:sp>
      <p:sp>
        <p:nvSpPr>
          <p:cNvPr id="4" name="Slide Number Placeholder 3">
            <a:extLst>
              <a:ext uri="{FF2B5EF4-FFF2-40B4-BE49-F238E27FC236}">
                <a16:creationId xmlns:a16="http://schemas.microsoft.com/office/drawing/2014/main" id="{9BD5BDC8-9AA3-2A79-BE4C-79A44FCC59E7}"/>
              </a:ext>
            </a:extLst>
          </p:cNvPr>
          <p:cNvSpPr>
            <a:spLocks noGrp="1"/>
          </p:cNvSpPr>
          <p:nvPr>
            <p:ph type="sldNum" sz="quarter" idx="12"/>
          </p:nvPr>
        </p:nvSpPr>
        <p:spPr/>
        <p:txBody>
          <a:bodyPr/>
          <a:lstStyle/>
          <a:p>
            <a:fld id="{AAE97593-F042-4744-9F12-DEBDA7D57AA1}" type="slidenum">
              <a:rPr lang="en-IN" smtClean="0"/>
              <a:t>7</a:t>
            </a:fld>
            <a:endParaRPr lang="en-IN"/>
          </a:p>
        </p:txBody>
      </p:sp>
    </p:spTree>
    <p:extLst>
      <p:ext uri="{BB962C8B-B14F-4D97-AF65-F5344CB8AC3E}">
        <p14:creationId xmlns:p14="http://schemas.microsoft.com/office/powerpoint/2010/main" val="32439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BC77E-0479-1CA9-2611-0FDAE1125F07}"/>
              </a:ext>
            </a:extLst>
          </p:cNvPr>
          <p:cNvSpPr>
            <a:spLocks noGrp="1"/>
          </p:cNvSpPr>
          <p:nvPr>
            <p:ph type="title"/>
          </p:nvPr>
        </p:nvSpPr>
        <p:spPr>
          <a:xfrm>
            <a:off x="677334" y="609600"/>
            <a:ext cx="8596668" cy="816077"/>
          </a:xfrm>
        </p:spPr>
        <p:txBody>
          <a:bodyPr/>
          <a:lstStyle/>
          <a:p>
            <a:r>
              <a:rPr lang="en-US" dirty="0"/>
              <a:t>6.Sales Agent Performance</a:t>
            </a:r>
            <a:endParaRPr lang="en-IN" dirty="0"/>
          </a:p>
        </p:txBody>
      </p:sp>
      <p:sp>
        <p:nvSpPr>
          <p:cNvPr id="3" name="Content Placeholder 2">
            <a:extLst>
              <a:ext uri="{FF2B5EF4-FFF2-40B4-BE49-F238E27FC236}">
                <a16:creationId xmlns:a16="http://schemas.microsoft.com/office/drawing/2014/main" id="{1DB57986-8DB1-AA27-B732-83C9485A4043}"/>
              </a:ext>
            </a:extLst>
          </p:cNvPr>
          <p:cNvSpPr>
            <a:spLocks noGrp="1"/>
          </p:cNvSpPr>
          <p:nvPr>
            <p:ph idx="1"/>
          </p:nvPr>
        </p:nvSpPr>
        <p:spPr>
          <a:xfrm>
            <a:off x="677334" y="1425677"/>
            <a:ext cx="8596668" cy="425295"/>
          </a:xfrm>
        </p:spPr>
        <p:txBody>
          <a:bodyPr/>
          <a:lstStyle/>
          <a:p>
            <a:r>
              <a:rPr lang="en-US" dirty="0"/>
              <a:t>Agent Productivity &amp; Pipeline</a:t>
            </a:r>
            <a:endParaRPr lang="en-IN" dirty="0"/>
          </a:p>
        </p:txBody>
      </p:sp>
      <p:pic>
        <p:nvPicPr>
          <p:cNvPr id="11" name="Picture 10">
            <a:extLst>
              <a:ext uri="{FF2B5EF4-FFF2-40B4-BE49-F238E27FC236}">
                <a16:creationId xmlns:a16="http://schemas.microsoft.com/office/drawing/2014/main" id="{F7627979-7307-FE6C-7A1C-E42D6032B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5622" y="1543664"/>
            <a:ext cx="5456378" cy="4237704"/>
          </a:xfrm>
          <a:prstGeom prst="rect">
            <a:avLst/>
          </a:prstGeom>
        </p:spPr>
      </p:pic>
      <p:sp>
        <p:nvSpPr>
          <p:cNvPr id="16" name="TextBox 15">
            <a:extLst>
              <a:ext uri="{FF2B5EF4-FFF2-40B4-BE49-F238E27FC236}">
                <a16:creationId xmlns:a16="http://schemas.microsoft.com/office/drawing/2014/main" id="{1A7DC064-44C6-A3C0-C6EB-5F434FD6A81F}"/>
              </a:ext>
            </a:extLst>
          </p:cNvPr>
          <p:cNvSpPr txBox="1"/>
          <p:nvPr/>
        </p:nvSpPr>
        <p:spPr>
          <a:xfrm>
            <a:off x="786581" y="2054942"/>
            <a:ext cx="4807974" cy="3170099"/>
          </a:xfrm>
          <a:prstGeom prst="rect">
            <a:avLst/>
          </a:prstGeom>
          <a:noFill/>
        </p:spPr>
        <p:txBody>
          <a:bodyPr wrap="square" rtlCol="0">
            <a:spAutoFit/>
          </a:bodyPr>
          <a:lstStyle/>
          <a:p>
            <a:r>
              <a:rPr lang="en-US" sz="2800" b="1" dirty="0"/>
              <a:t>Insights:</a:t>
            </a:r>
          </a:p>
          <a:p>
            <a:endParaRPr lang="en-US" sz="2800" b="1" dirty="0"/>
          </a:p>
          <a:p>
            <a:r>
              <a:rPr lang="en-US" b="1" dirty="0"/>
              <a:t>Sales Trend: </a:t>
            </a:r>
            <a:r>
              <a:rPr lang="en-US" dirty="0">
                <a:latin typeface="Times New Roman" panose="02020603050405020304" pitchFamily="18" charset="0"/>
                <a:cs typeface="Times New Roman" panose="02020603050405020304" pitchFamily="18" charset="0"/>
              </a:rPr>
              <a:t>Annual Premium from agents grew from 0.09bn in 2016 to 0.32 in 2024.</a:t>
            </a:r>
          </a:p>
          <a:p>
            <a:endParaRPr lang="en-US" dirty="0"/>
          </a:p>
          <a:p>
            <a:r>
              <a:rPr lang="en-US" b="1" dirty="0"/>
              <a:t>Top Performers: </a:t>
            </a:r>
            <a:r>
              <a:rPr lang="en-US" dirty="0">
                <a:latin typeface="Times New Roman" panose="02020603050405020304" pitchFamily="18" charset="0"/>
                <a:cs typeface="Times New Roman" panose="02020603050405020304" pitchFamily="18" charset="0"/>
              </a:rPr>
              <a:t>Baiju Singh, Divij Malhotra, Ananya Sharma are the top performers.</a:t>
            </a:r>
          </a:p>
          <a:p>
            <a:endParaRPr lang="en-US" dirty="0"/>
          </a:p>
          <a:p>
            <a:r>
              <a:rPr lang="en-US" b="1" dirty="0"/>
              <a:t>Pipeline Gap: </a:t>
            </a:r>
            <a:r>
              <a:rPr lang="en-US" dirty="0">
                <a:latin typeface="Times New Roman" panose="02020603050405020304" pitchFamily="18" charset="0"/>
                <a:cs typeface="Times New Roman" panose="02020603050405020304" pitchFamily="18" charset="0"/>
              </a:rPr>
              <a:t>Total Premium Payable Consistency higher than paid across agents</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60A4AB8-6F81-3590-CE5B-F50E88172C02}"/>
              </a:ext>
            </a:extLst>
          </p:cNvPr>
          <p:cNvSpPr>
            <a:spLocks noGrp="1"/>
          </p:cNvSpPr>
          <p:nvPr>
            <p:ph type="sldNum" sz="quarter" idx="12"/>
          </p:nvPr>
        </p:nvSpPr>
        <p:spPr/>
        <p:txBody>
          <a:bodyPr/>
          <a:lstStyle/>
          <a:p>
            <a:fld id="{AAE97593-F042-4744-9F12-DEBDA7D57AA1}" type="slidenum">
              <a:rPr lang="en-IN" smtClean="0"/>
              <a:t>8</a:t>
            </a:fld>
            <a:endParaRPr lang="en-IN"/>
          </a:p>
        </p:txBody>
      </p:sp>
    </p:spTree>
    <p:extLst>
      <p:ext uri="{BB962C8B-B14F-4D97-AF65-F5344CB8AC3E}">
        <p14:creationId xmlns:p14="http://schemas.microsoft.com/office/powerpoint/2010/main" val="2230380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D9D3A-CDD3-4589-9EF7-0E2C083B5A02}"/>
              </a:ext>
            </a:extLst>
          </p:cNvPr>
          <p:cNvSpPr>
            <a:spLocks noGrp="1"/>
          </p:cNvSpPr>
          <p:nvPr>
            <p:ph type="title"/>
          </p:nvPr>
        </p:nvSpPr>
        <p:spPr>
          <a:xfrm>
            <a:off x="628173" y="265471"/>
            <a:ext cx="8596668" cy="747252"/>
          </a:xfrm>
        </p:spPr>
        <p:txBody>
          <a:bodyPr/>
          <a:lstStyle/>
          <a:p>
            <a:r>
              <a:rPr lang="en-US" dirty="0"/>
              <a:t>7.Sales Agent Performance</a:t>
            </a:r>
            <a:endParaRPr lang="en-IN" dirty="0"/>
          </a:p>
        </p:txBody>
      </p:sp>
      <p:pic>
        <p:nvPicPr>
          <p:cNvPr id="4" name="Content Placeholder 3">
            <a:extLst>
              <a:ext uri="{FF2B5EF4-FFF2-40B4-BE49-F238E27FC236}">
                <a16:creationId xmlns:a16="http://schemas.microsoft.com/office/drawing/2014/main" id="{1EE22A9E-A8B0-024E-06CF-E2B59BBCD3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3793" y="1356852"/>
            <a:ext cx="5594555" cy="1918712"/>
          </a:xfrm>
          <a:prstGeom prst="rect">
            <a:avLst/>
          </a:prstGeom>
        </p:spPr>
      </p:pic>
      <p:pic>
        <p:nvPicPr>
          <p:cNvPr id="5" name="Picture 4">
            <a:extLst>
              <a:ext uri="{FF2B5EF4-FFF2-40B4-BE49-F238E27FC236}">
                <a16:creationId xmlns:a16="http://schemas.microsoft.com/office/drawing/2014/main" id="{C6F55683-2769-5728-DD7E-B362F8703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289" y="3429000"/>
            <a:ext cx="8964245" cy="3054072"/>
          </a:xfrm>
          <a:prstGeom prst="rect">
            <a:avLst/>
          </a:prstGeom>
        </p:spPr>
      </p:pic>
      <p:sp>
        <p:nvSpPr>
          <p:cNvPr id="3" name="Slide Number Placeholder 2">
            <a:extLst>
              <a:ext uri="{FF2B5EF4-FFF2-40B4-BE49-F238E27FC236}">
                <a16:creationId xmlns:a16="http://schemas.microsoft.com/office/drawing/2014/main" id="{8578C7D2-2418-C8A5-A573-E60D7AE3F197}"/>
              </a:ext>
            </a:extLst>
          </p:cNvPr>
          <p:cNvSpPr>
            <a:spLocks noGrp="1"/>
          </p:cNvSpPr>
          <p:nvPr>
            <p:ph type="sldNum" sz="quarter" idx="12"/>
          </p:nvPr>
        </p:nvSpPr>
        <p:spPr/>
        <p:txBody>
          <a:bodyPr/>
          <a:lstStyle/>
          <a:p>
            <a:fld id="{AAE97593-F042-4744-9F12-DEBDA7D57AA1}" type="slidenum">
              <a:rPr lang="en-IN" smtClean="0"/>
              <a:t>9</a:t>
            </a:fld>
            <a:endParaRPr lang="en-IN"/>
          </a:p>
        </p:txBody>
      </p:sp>
    </p:spTree>
    <p:extLst>
      <p:ext uri="{BB962C8B-B14F-4D97-AF65-F5344CB8AC3E}">
        <p14:creationId xmlns:p14="http://schemas.microsoft.com/office/powerpoint/2010/main" val="3009200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F584-DF1E-89CC-C177-DFB006D14798}"/>
              </a:ext>
            </a:extLst>
          </p:cNvPr>
          <p:cNvSpPr>
            <a:spLocks noGrp="1"/>
          </p:cNvSpPr>
          <p:nvPr>
            <p:ph type="title"/>
          </p:nvPr>
        </p:nvSpPr>
        <p:spPr>
          <a:xfrm>
            <a:off x="677334" y="609600"/>
            <a:ext cx="8596668" cy="747252"/>
          </a:xfrm>
        </p:spPr>
        <p:txBody>
          <a:bodyPr/>
          <a:lstStyle/>
          <a:p>
            <a:r>
              <a:rPr lang="en-US" dirty="0"/>
              <a:t>8.Investment Performance &amp; ROI trends</a:t>
            </a:r>
            <a:endParaRPr lang="en-IN" dirty="0"/>
          </a:p>
        </p:txBody>
      </p:sp>
      <p:sp>
        <p:nvSpPr>
          <p:cNvPr id="3" name="Content Placeholder 2">
            <a:extLst>
              <a:ext uri="{FF2B5EF4-FFF2-40B4-BE49-F238E27FC236}">
                <a16:creationId xmlns:a16="http://schemas.microsoft.com/office/drawing/2014/main" id="{993F5432-1961-2F13-73AB-D7C89BEE6DBA}"/>
              </a:ext>
            </a:extLst>
          </p:cNvPr>
          <p:cNvSpPr>
            <a:spLocks noGrp="1"/>
          </p:cNvSpPr>
          <p:nvPr>
            <p:ph idx="1"/>
          </p:nvPr>
        </p:nvSpPr>
        <p:spPr>
          <a:xfrm>
            <a:off x="677334" y="1573136"/>
            <a:ext cx="8596668" cy="562946"/>
          </a:xfrm>
        </p:spPr>
        <p:txBody>
          <a:bodyPr/>
          <a:lstStyle/>
          <a:p>
            <a:r>
              <a:rPr lang="en-US" dirty="0"/>
              <a:t>Maturity Value &amp; ROI Are Accelerating</a:t>
            </a:r>
            <a:endParaRPr lang="en-IN" dirty="0"/>
          </a:p>
        </p:txBody>
      </p:sp>
      <p:pic>
        <p:nvPicPr>
          <p:cNvPr id="5" name="Picture 4">
            <a:extLst>
              <a:ext uri="{FF2B5EF4-FFF2-40B4-BE49-F238E27FC236}">
                <a16:creationId xmlns:a16="http://schemas.microsoft.com/office/drawing/2014/main" id="{F3FC1E17-EA16-3AF6-4344-342D57CCD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310" y="2136082"/>
            <a:ext cx="7248558" cy="4304047"/>
          </a:xfrm>
          <a:prstGeom prst="rect">
            <a:avLst/>
          </a:prstGeom>
        </p:spPr>
      </p:pic>
      <p:sp>
        <p:nvSpPr>
          <p:cNvPr id="6" name="TextBox 5">
            <a:extLst>
              <a:ext uri="{FF2B5EF4-FFF2-40B4-BE49-F238E27FC236}">
                <a16:creationId xmlns:a16="http://schemas.microsoft.com/office/drawing/2014/main" id="{B08ADB53-3C6A-837A-19BB-59D4546350BB}"/>
              </a:ext>
            </a:extLst>
          </p:cNvPr>
          <p:cNvSpPr txBox="1"/>
          <p:nvPr/>
        </p:nvSpPr>
        <p:spPr>
          <a:xfrm>
            <a:off x="894735" y="2630229"/>
            <a:ext cx="3598606" cy="3088474"/>
          </a:xfrm>
          <a:prstGeom prst="rect">
            <a:avLst/>
          </a:prstGeom>
          <a:noFill/>
        </p:spPr>
        <p:txBody>
          <a:bodyPr wrap="square" rtlCol="0">
            <a:spAutoFit/>
          </a:bodyPr>
          <a:lstStyle/>
          <a:p>
            <a:r>
              <a:rPr lang="en-US" b="1" dirty="0"/>
              <a:t>Key Trends 2015-2024</a:t>
            </a:r>
          </a:p>
          <a:p>
            <a:endParaRPr lang="en-US" dirty="0"/>
          </a:p>
          <a:p>
            <a:pPr marL="285750" indent="-285750">
              <a:lnSpc>
                <a:spcPct val="150000"/>
              </a:lnSpc>
              <a:buFont typeface="Arial" panose="020B0604020202020204" pitchFamily="34" charset="0"/>
              <a:buChar char="•"/>
            </a:pPr>
            <a:r>
              <a:rPr lang="en-US" b="1" dirty="0"/>
              <a:t>Maturity Amount</a:t>
            </a:r>
            <a:r>
              <a:rPr lang="en-US" dirty="0"/>
              <a:t>: Grew from 1.83bn to 6.25bn</a:t>
            </a:r>
          </a:p>
          <a:p>
            <a:pPr marL="285750" indent="-285750">
              <a:lnSpc>
                <a:spcPct val="150000"/>
              </a:lnSpc>
              <a:buFont typeface="Arial" panose="020B0604020202020204" pitchFamily="34" charset="0"/>
              <a:buChar char="•"/>
            </a:pPr>
            <a:r>
              <a:rPr lang="en-US" b="1" dirty="0"/>
              <a:t>Total premium Paid</a:t>
            </a:r>
            <a:r>
              <a:rPr lang="en-US" dirty="0"/>
              <a:t>: Declined from 1916.99M to 196.79M</a:t>
            </a:r>
          </a:p>
          <a:p>
            <a:pPr marL="285750" indent="-285750">
              <a:lnSpc>
                <a:spcPct val="150000"/>
              </a:lnSpc>
              <a:buFont typeface="Arial" panose="020B0604020202020204" pitchFamily="34" charset="0"/>
              <a:buChar char="•"/>
            </a:pPr>
            <a:r>
              <a:rPr lang="en-US" b="1" dirty="0"/>
              <a:t>Avg Annualized ROI</a:t>
            </a:r>
            <a:r>
              <a:rPr lang="en-US" dirty="0"/>
              <a:t>: Jumped from 3.21% to 19.05%</a:t>
            </a:r>
            <a:endParaRPr lang="en-IN" dirty="0"/>
          </a:p>
        </p:txBody>
      </p:sp>
      <p:sp>
        <p:nvSpPr>
          <p:cNvPr id="4" name="Slide Number Placeholder 3">
            <a:extLst>
              <a:ext uri="{FF2B5EF4-FFF2-40B4-BE49-F238E27FC236}">
                <a16:creationId xmlns:a16="http://schemas.microsoft.com/office/drawing/2014/main" id="{6CE2DFE2-06A1-62AF-ECD0-169CD46D5B7B}"/>
              </a:ext>
            </a:extLst>
          </p:cNvPr>
          <p:cNvSpPr>
            <a:spLocks noGrp="1"/>
          </p:cNvSpPr>
          <p:nvPr>
            <p:ph type="sldNum" sz="quarter" idx="12"/>
          </p:nvPr>
        </p:nvSpPr>
        <p:spPr/>
        <p:txBody>
          <a:bodyPr/>
          <a:lstStyle/>
          <a:p>
            <a:fld id="{AAE97593-F042-4744-9F12-DEBDA7D57AA1}" type="slidenum">
              <a:rPr lang="en-IN" smtClean="0"/>
              <a:t>10</a:t>
            </a:fld>
            <a:endParaRPr lang="en-IN"/>
          </a:p>
        </p:txBody>
      </p:sp>
    </p:spTree>
    <p:extLst>
      <p:ext uri="{BB962C8B-B14F-4D97-AF65-F5344CB8AC3E}">
        <p14:creationId xmlns:p14="http://schemas.microsoft.com/office/powerpoint/2010/main" val="3409511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47368-E038-9984-7888-1DCBAD9882E5}"/>
              </a:ext>
            </a:extLst>
          </p:cNvPr>
          <p:cNvSpPr>
            <a:spLocks noGrp="1"/>
          </p:cNvSpPr>
          <p:nvPr>
            <p:ph type="title"/>
          </p:nvPr>
        </p:nvSpPr>
        <p:spPr>
          <a:xfrm>
            <a:off x="677334" y="386447"/>
            <a:ext cx="8596668" cy="608637"/>
          </a:xfrm>
        </p:spPr>
        <p:txBody>
          <a:bodyPr>
            <a:normAutofit fontScale="90000"/>
          </a:bodyPr>
          <a:lstStyle/>
          <a:p>
            <a:r>
              <a:rPr lang="en-US" dirty="0"/>
              <a:t>9.Future Cash Flow &amp; ROI Forecast</a:t>
            </a:r>
            <a:endParaRPr lang="en-IN" dirty="0"/>
          </a:p>
        </p:txBody>
      </p:sp>
      <p:sp>
        <p:nvSpPr>
          <p:cNvPr id="3" name="Content Placeholder 2">
            <a:extLst>
              <a:ext uri="{FF2B5EF4-FFF2-40B4-BE49-F238E27FC236}">
                <a16:creationId xmlns:a16="http://schemas.microsoft.com/office/drawing/2014/main" id="{91BEC48C-7658-8DD2-11A6-70EC4A86901E}"/>
              </a:ext>
            </a:extLst>
          </p:cNvPr>
          <p:cNvSpPr>
            <a:spLocks noGrp="1"/>
          </p:cNvSpPr>
          <p:nvPr>
            <p:ph idx="1"/>
          </p:nvPr>
        </p:nvSpPr>
        <p:spPr>
          <a:xfrm>
            <a:off x="677334" y="1393673"/>
            <a:ext cx="8596668" cy="454792"/>
          </a:xfrm>
        </p:spPr>
        <p:txBody>
          <a:bodyPr/>
          <a:lstStyle/>
          <a:p>
            <a:r>
              <a:rPr lang="en-US" dirty="0"/>
              <a:t>2026-2030 outlook: Strong ROI Pipeline</a:t>
            </a:r>
            <a:endParaRPr lang="en-IN" dirty="0"/>
          </a:p>
        </p:txBody>
      </p:sp>
      <p:sp>
        <p:nvSpPr>
          <p:cNvPr id="4" name="TextBox 3">
            <a:extLst>
              <a:ext uri="{FF2B5EF4-FFF2-40B4-BE49-F238E27FC236}">
                <a16:creationId xmlns:a16="http://schemas.microsoft.com/office/drawing/2014/main" id="{EB306721-D5C4-FF04-D09C-A01091DEEAFA}"/>
              </a:ext>
            </a:extLst>
          </p:cNvPr>
          <p:cNvSpPr txBox="1"/>
          <p:nvPr/>
        </p:nvSpPr>
        <p:spPr>
          <a:xfrm>
            <a:off x="1101212" y="1930400"/>
            <a:ext cx="5466735" cy="21200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b="1" dirty="0"/>
              <a:t>Maturity Amount 2026</a:t>
            </a:r>
            <a:r>
              <a:rPr lang="en-US" dirty="0"/>
              <a:t>: </a:t>
            </a:r>
            <a:r>
              <a:rPr lang="en-US" dirty="0">
                <a:latin typeface="Times New Roman" panose="02020603050405020304" pitchFamily="18" charset="0"/>
                <a:cs typeface="Times New Roman" panose="02020603050405020304" pitchFamily="18" charset="0"/>
              </a:rPr>
              <a:t>0.84bn</a:t>
            </a:r>
            <a:r>
              <a:rPr lang="en-US" dirty="0"/>
              <a:t> </a:t>
            </a:r>
            <a:r>
              <a:rPr lang="en-US" dirty="0">
                <a:sym typeface="Wingdings" panose="05000000000000000000" pitchFamily="2" charset="2"/>
              </a:rPr>
              <a:t> 2030:</a:t>
            </a:r>
            <a:r>
              <a:rPr lang="en-US" dirty="0">
                <a:latin typeface="Times New Roman" panose="02020603050405020304" pitchFamily="18" charset="0"/>
                <a:cs typeface="Times New Roman" panose="02020603050405020304" pitchFamily="18" charset="0"/>
                <a:sym typeface="Wingdings" panose="05000000000000000000" pitchFamily="2" charset="2"/>
              </a:rPr>
              <a:t>1.79bn</a:t>
            </a:r>
          </a:p>
          <a:p>
            <a:pPr marL="285750" indent="-285750">
              <a:lnSpc>
                <a:spcPct val="150000"/>
              </a:lnSpc>
              <a:buFont typeface="Arial" panose="020B0604020202020204" pitchFamily="34" charset="0"/>
              <a:buChar char="•"/>
            </a:pPr>
            <a:r>
              <a:rPr lang="en-US" b="1" dirty="0">
                <a:latin typeface="Trebuchet MS (Body)"/>
                <a:cs typeface="Times New Roman" panose="02020603050405020304" pitchFamily="18" charset="0"/>
                <a:sym typeface="Wingdings" panose="05000000000000000000" pitchFamily="2" charset="2"/>
              </a:rPr>
              <a:t>Annualized ROI 2026: </a:t>
            </a:r>
            <a:r>
              <a:rPr lang="en-US" dirty="0">
                <a:latin typeface="Times New Roman" panose="02020603050405020304" pitchFamily="18" charset="0"/>
                <a:cs typeface="Times New Roman" panose="02020603050405020304" pitchFamily="18" charset="0"/>
                <a:sym typeface="Wingdings" panose="05000000000000000000" pitchFamily="2" charset="2"/>
              </a:rPr>
              <a:t>233.10%  </a:t>
            </a:r>
            <a:r>
              <a:rPr lang="en-US" b="1" dirty="0">
                <a:latin typeface="Trebuchet MS (Body)"/>
                <a:cs typeface="Times New Roman" panose="02020603050405020304" pitchFamily="18" charset="0"/>
                <a:sym typeface="Wingdings" panose="05000000000000000000" pitchFamily="2" charset="2"/>
              </a:rPr>
              <a:t>2030:</a:t>
            </a:r>
            <a:r>
              <a:rPr lang="en-US" dirty="0">
                <a:latin typeface="Times New Roman" panose="02020603050405020304" pitchFamily="18" charset="0"/>
                <a:cs typeface="Times New Roman" panose="02020603050405020304" pitchFamily="18" charset="0"/>
                <a:sym typeface="Wingdings" panose="05000000000000000000" pitchFamily="2" charset="2"/>
              </a:rPr>
              <a:t>2050.80%</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sym typeface="Wingdings" panose="05000000000000000000" pitchFamily="2" charset="2"/>
              </a:rPr>
              <a:t>Top Agent Pipeline:</a:t>
            </a:r>
            <a:r>
              <a:rPr lang="en-US" dirty="0">
                <a:latin typeface="Times New Roman" panose="02020603050405020304" pitchFamily="18" charset="0"/>
                <a:cs typeface="Times New Roman" panose="02020603050405020304" pitchFamily="18" charset="0"/>
                <a:sym typeface="Wingdings" panose="05000000000000000000" pitchFamily="2" charset="2"/>
              </a:rPr>
              <a:t> Baiju singh has 542.15M maturity amount pending</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E9EFB3F-AC83-785E-1604-1E3523403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5403" y="1270000"/>
            <a:ext cx="5074649" cy="2524477"/>
          </a:xfrm>
          <a:prstGeom prst="rect">
            <a:avLst/>
          </a:prstGeom>
        </p:spPr>
      </p:pic>
      <p:pic>
        <p:nvPicPr>
          <p:cNvPr id="8" name="Picture 7">
            <a:extLst>
              <a:ext uri="{FF2B5EF4-FFF2-40B4-BE49-F238E27FC236}">
                <a16:creationId xmlns:a16="http://schemas.microsoft.com/office/drawing/2014/main" id="{9516227A-C938-5C53-971C-60A8E19FC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266" y="4132403"/>
            <a:ext cx="5466735" cy="2570347"/>
          </a:xfrm>
          <a:prstGeom prst="rect">
            <a:avLst/>
          </a:prstGeom>
        </p:spPr>
      </p:pic>
      <p:pic>
        <p:nvPicPr>
          <p:cNvPr id="10" name="Picture 9">
            <a:extLst>
              <a:ext uri="{FF2B5EF4-FFF2-40B4-BE49-F238E27FC236}">
                <a16:creationId xmlns:a16="http://schemas.microsoft.com/office/drawing/2014/main" id="{EC1B8D0B-B869-0EDC-58F7-D1EF034774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4493" y="4000085"/>
            <a:ext cx="5643713" cy="2702665"/>
          </a:xfrm>
          <a:prstGeom prst="rect">
            <a:avLst/>
          </a:prstGeom>
        </p:spPr>
      </p:pic>
      <p:sp>
        <p:nvSpPr>
          <p:cNvPr id="5" name="Slide Number Placeholder 4">
            <a:extLst>
              <a:ext uri="{FF2B5EF4-FFF2-40B4-BE49-F238E27FC236}">
                <a16:creationId xmlns:a16="http://schemas.microsoft.com/office/drawing/2014/main" id="{A3885A1D-5D0F-DA4D-99FA-02384586F293}"/>
              </a:ext>
            </a:extLst>
          </p:cNvPr>
          <p:cNvSpPr>
            <a:spLocks noGrp="1"/>
          </p:cNvSpPr>
          <p:nvPr>
            <p:ph type="sldNum" sz="quarter" idx="12"/>
          </p:nvPr>
        </p:nvSpPr>
        <p:spPr/>
        <p:txBody>
          <a:bodyPr/>
          <a:lstStyle/>
          <a:p>
            <a:fld id="{AAE97593-F042-4744-9F12-DEBDA7D57AA1}" type="slidenum">
              <a:rPr lang="en-IN" smtClean="0"/>
              <a:t>11</a:t>
            </a:fld>
            <a:endParaRPr lang="en-IN"/>
          </a:p>
        </p:txBody>
      </p:sp>
    </p:spTree>
    <p:extLst>
      <p:ext uri="{BB962C8B-B14F-4D97-AF65-F5344CB8AC3E}">
        <p14:creationId xmlns:p14="http://schemas.microsoft.com/office/powerpoint/2010/main" val="2485699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B3C87-A397-65A5-8559-0A55AFC23739}"/>
              </a:ext>
            </a:extLst>
          </p:cNvPr>
          <p:cNvSpPr>
            <a:spLocks noGrp="1"/>
          </p:cNvSpPr>
          <p:nvPr>
            <p:ph type="title"/>
          </p:nvPr>
        </p:nvSpPr>
        <p:spPr/>
        <p:txBody>
          <a:bodyPr/>
          <a:lstStyle/>
          <a:p>
            <a:r>
              <a:rPr lang="en-US" dirty="0"/>
              <a:t>10.Insights</a:t>
            </a:r>
            <a:endParaRPr lang="en-IN" dirty="0"/>
          </a:p>
        </p:txBody>
      </p:sp>
      <p:sp>
        <p:nvSpPr>
          <p:cNvPr id="4" name="TextBox 3">
            <a:extLst>
              <a:ext uri="{FF2B5EF4-FFF2-40B4-BE49-F238E27FC236}">
                <a16:creationId xmlns:a16="http://schemas.microsoft.com/office/drawing/2014/main" id="{7466596A-3EBC-71E5-F420-7721D342DCE5}"/>
              </a:ext>
            </a:extLst>
          </p:cNvPr>
          <p:cNvSpPr txBox="1"/>
          <p:nvPr/>
        </p:nvSpPr>
        <p:spPr>
          <a:xfrm>
            <a:off x="816077" y="1347019"/>
            <a:ext cx="8457925"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business manages 7,299 policies worth ₹39B in total premium, with ₹28.4B still payable over the coming years.</a:t>
            </a:r>
          </a:p>
          <a:p>
            <a:pPr marL="285750" indent="-285750">
              <a:buFont typeface="Arial" panose="020B0604020202020204" pitchFamily="34" charset="0"/>
              <a:buChar char="•"/>
            </a:pPr>
            <a:r>
              <a:rPr lang="en-US" dirty="0"/>
              <a:t>Universal, Endowment, and Whole Life policy types each contribute roughly one-third of annual premium, showing a well-balanced product mix.</a:t>
            </a:r>
          </a:p>
          <a:p>
            <a:pPr marL="285750" indent="-285750">
              <a:buFont typeface="Arial" panose="020B0604020202020204" pitchFamily="34" charset="0"/>
              <a:buChar char="•"/>
            </a:pPr>
            <a:r>
              <a:rPr lang="en-US" dirty="0"/>
              <a:t>Life Growth and Jeevan Suraksha together drive over 55% of annual premium, indicating heavy revenue dependence on two flagship plans.</a:t>
            </a:r>
          </a:p>
          <a:p>
            <a:pPr marL="285750" indent="-285750">
              <a:buFont typeface="Arial" panose="020B0604020202020204" pitchFamily="34" charset="0"/>
              <a:buChar char="•"/>
            </a:pPr>
            <a:r>
              <a:rPr lang="en-US" dirty="0"/>
              <a:t>Delhi, Uttar Pradesh, and Haryana are the top-performing states, while Sikkim shows unusually high premium for its size.</a:t>
            </a:r>
          </a:p>
          <a:p>
            <a:pPr marL="285750" indent="-285750">
              <a:buFont typeface="Arial" panose="020B0604020202020204" pitchFamily="34" charset="0"/>
              <a:buChar char="•"/>
            </a:pPr>
            <a:r>
              <a:rPr lang="en-US" dirty="0"/>
              <a:t>Agent-driven premium has grown steadily from 2016 to 2024, with a few top agents managing most of the maturity pipeline.</a:t>
            </a:r>
          </a:p>
          <a:p>
            <a:pPr marL="285750" indent="-285750">
              <a:buFont typeface="Arial" panose="020B0604020202020204" pitchFamily="34" charset="0"/>
              <a:buChar char="•"/>
            </a:pPr>
            <a:r>
              <a:rPr lang="en-US" dirty="0"/>
              <a:t>Creative occupations like theatre artists, horticulturalists, and furniture designers show higher premium adoption than traditional corporate roles.</a:t>
            </a:r>
          </a:p>
          <a:p>
            <a:pPr marL="285750" indent="-285750">
              <a:buFont typeface="Arial" panose="020B0604020202020204" pitchFamily="34" charset="0"/>
              <a:buChar char="•"/>
            </a:pPr>
            <a:r>
              <a:rPr lang="en-US" dirty="0"/>
              <a:t>ROI increases significantly with policy tenure, with matured policies showing 19%+ annualized returns compared to 3% in early years.</a:t>
            </a:r>
          </a:p>
          <a:p>
            <a:pPr marL="285750" indent="-285750">
              <a:buFont typeface="Arial" panose="020B0604020202020204" pitchFamily="34" charset="0"/>
              <a:buChar char="•"/>
            </a:pPr>
            <a:r>
              <a:rPr lang="en-US" dirty="0"/>
              <a:t>Underwriting expenses remain very low at under 2% of annual premium, indicating strong cost control across operations.</a:t>
            </a:r>
            <a:endParaRPr lang="en-IN" dirty="0"/>
          </a:p>
        </p:txBody>
      </p:sp>
      <p:sp>
        <p:nvSpPr>
          <p:cNvPr id="3" name="Slide Number Placeholder 2">
            <a:extLst>
              <a:ext uri="{FF2B5EF4-FFF2-40B4-BE49-F238E27FC236}">
                <a16:creationId xmlns:a16="http://schemas.microsoft.com/office/drawing/2014/main" id="{1D6C44F2-047E-F045-9E0C-289635E81EBE}"/>
              </a:ext>
            </a:extLst>
          </p:cNvPr>
          <p:cNvSpPr>
            <a:spLocks noGrp="1"/>
          </p:cNvSpPr>
          <p:nvPr>
            <p:ph type="sldNum" sz="quarter" idx="12"/>
          </p:nvPr>
        </p:nvSpPr>
        <p:spPr/>
        <p:txBody>
          <a:bodyPr/>
          <a:lstStyle/>
          <a:p>
            <a:fld id="{AAE97593-F042-4744-9F12-DEBDA7D57AA1}" type="slidenum">
              <a:rPr lang="en-IN" smtClean="0"/>
              <a:t>12</a:t>
            </a:fld>
            <a:endParaRPr lang="en-IN"/>
          </a:p>
        </p:txBody>
      </p:sp>
    </p:spTree>
    <p:extLst>
      <p:ext uri="{BB962C8B-B14F-4D97-AF65-F5344CB8AC3E}">
        <p14:creationId xmlns:p14="http://schemas.microsoft.com/office/powerpoint/2010/main" val="358458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31D17-2796-DDD7-7CDE-440E6FE290F6}"/>
              </a:ext>
            </a:extLst>
          </p:cNvPr>
          <p:cNvSpPr>
            <a:spLocks noGrp="1"/>
          </p:cNvSpPr>
          <p:nvPr>
            <p:ph type="title"/>
          </p:nvPr>
        </p:nvSpPr>
        <p:spPr>
          <a:xfrm>
            <a:off x="3676174" y="1523999"/>
            <a:ext cx="3589865" cy="816077"/>
          </a:xfrm>
        </p:spPr>
        <p:txBody>
          <a:bodyPr>
            <a:noAutofit/>
          </a:bodyPr>
          <a:lstStyle/>
          <a:p>
            <a:r>
              <a:rPr lang="en-US" sz="5400" dirty="0">
                <a:latin typeface="Bradley Hand ITC" panose="03070402050302030203" pitchFamily="66" charset="0"/>
              </a:rPr>
              <a:t>Thank You</a:t>
            </a:r>
            <a:endParaRPr lang="en-IN" sz="5400" dirty="0">
              <a:latin typeface="Bradley Hand ITC" panose="03070402050302030203" pitchFamily="66" charset="0"/>
            </a:endParaRPr>
          </a:p>
        </p:txBody>
      </p:sp>
      <p:sp>
        <p:nvSpPr>
          <p:cNvPr id="4" name="TextBox 3">
            <a:extLst>
              <a:ext uri="{FF2B5EF4-FFF2-40B4-BE49-F238E27FC236}">
                <a16:creationId xmlns:a16="http://schemas.microsoft.com/office/drawing/2014/main" id="{8FB0285E-4759-D4EF-2B3B-A8BF139900F9}"/>
              </a:ext>
            </a:extLst>
          </p:cNvPr>
          <p:cNvSpPr txBox="1"/>
          <p:nvPr/>
        </p:nvSpPr>
        <p:spPr>
          <a:xfrm>
            <a:off x="3676174" y="2703870"/>
            <a:ext cx="6667361" cy="369332"/>
          </a:xfrm>
          <a:prstGeom prst="rect">
            <a:avLst/>
          </a:prstGeom>
          <a:noFill/>
        </p:spPr>
        <p:txBody>
          <a:bodyPr wrap="square" rtlCol="0">
            <a:spAutoFit/>
          </a:bodyPr>
          <a:lstStyle/>
          <a:p>
            <a:r>
              <a:rPr lang="en-US" dirty="0"/>
              <a:t>Thanks For Checking Out This Project</a:t>
            </a:r>
            <a:endParaRPr lang="en-IN" dirty="0"/>
          </a:p>
        </p:txBody>
      </p:sp>
      <p:sp>
        <p:nvSpPr>
          <p:cNvPr id="5" name="TextBox 4">
            <a:extLst>
              <a:ext uri="{FF2B5EF4-FFF2-40B4-BE49-F238E27FC236}">
                <a16:creationId xmlns:a16="http://schemas.microsoft.com/office/drawing/2014/main" id="{2F1B571D-C85A-2D0A-E739-27520D1AC7BD}"/>
              </a:ext>
            </a:extLst>
          </p:cNvPr>
          <p:cNvSpPr txBox="1"/>
          <p:nvPr/>
        </p:nvSpPr>
        <p:spPr>
          <a:xfrm>
            <a:off x="3028336" y="3252330"/>
            <a:ext cx="6410632" cy="369332"/>
          </a:xfrm>
          <a:prstGeom prst="rect">
            <a:avLst/>
          </a:prstGeom>
          <a:noFill/>
        </p:spPr>
        <p:txBody>
          <a:bodyPr wrap="square" rtlCol="0">
            <a:spAutoFit/>
          </a:bodyPr>
          <a:lstStyle/>
          <a:p>
            <a:r>
              <a:rPr lang="en-US" dirty="0"/>
              <a:t>Reach Out For Discussion: </a:t>
            </a:r>
            <a:r>
              <a:rPr lang="en-US" dirty="0">
                <a:hlinkClick r:id="rId2"/>
              </a:rPr>
              <a:t>sravani.ginamoni@gmail.com</a:t>
            </a:r>
            <a:endParaRPr lang="en-IN" dirty="0"/>
          </a:p>
        </p:txBody>
      </p:sp>
      <p:sp>
        <p:nvSpPr>
          <p:cNvPr id="3" name="Slide Number Placeholder 2">
            <a:extLst>
              <a:ext uri="{FF2B5EF4-FFF2-40B4-BE49-F238E27FC236}">
                <a16:creationId xmlns:a16="http://schemas.microsoft.com/office/drawing/2014/main" id="{4EA025D1-E1AB-BA6A-2664-7F20F3842633}"/>
              </a:ext>
            </a:extLst>
          </p:cNvPr>
          <p:cNvSpPr>
            <a:spLocks noGrp="1"/>
          </p:cNvSpPr>
          <p:nvPr>
            <p:ph type="sldNum" sz="quarter" idx="12"/>
          </p:nvPr>
        </p:nvSpPr>
        <p:spPr/>
        <p:txBody>
          <a:bodyPr/>
          <a:lstStyle/>
          <a:p>
            <a:fld id="{AAE97593-F042-4744-9F12-DEBDA7D57AA1}" type="slidenum">
              <a:rPr lang="en-IN" smtClean="0"/>
              <a:t>13</a:t>
            </a:fld>
            <a:endParaRPr lang="en-IN"/>
          </a:p>
        </p:txBody>
      </p:sp>
    </p:spTree>
    <p:extLst>
      <p:ext uri="{BB962C8B-B14F-4D97-AF65-F5344CB8AC3E}">
        <p14:creationId xmlns:p14="http://schemas.microsoft.com/office/powerpoint/2010/main" val="17203907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115</TotalTime>
  <Words>771</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Arial Black</vt:lpstr>
      <vt:lpstr>Bradley Hand ITC</vt:lpstr>
      <vt:lpstr>Calibri</vt:lpstr>
      <vt:lpstr>Times New Roman</vt:lpstr>
      <vt:lpstr>Trebuchet MS</vt:lpstr>
      <vt:lpstr>Trebuchet MS (Body)</vt:lpstr>
      <vt:lpstr>Wingdings</vt:lpstr>
      <vt:lpstr>Wingdings 3</vt:lpstr>
      <vt:lpstr>Facet</vt:lpstr>
      <vt:lpstr>Insurance Premium and Payout KPI Dashboard</vt:lpstr>
      <vt:lpstr>Contents</vt:lpstr>
      <vt:lpstr>1.Problem Statement</vt:lpstr>
      <vt:lpstr>2.Tools Used</vt:lpstr>
      <vt:lpstr>3.Key Metrics</vt:lpstr>
      <vt:lpstr>4.Premium Breakdown By Product</vt:lpstr>
      <vt:lpstr>5.Geographic &amp; Demographic Performance</vt:lpstr>
      <vt:lpstr>6.Sales Agent Performance</vt:lpstr>
      <vt:lpstr>7.Sales Agent Performance</vt:lpstr>
      <vt:lpstr>8.Investment Performance &amp; ROI trends</vt:lpstr>
      <vt:lpstr>9.Future Cash Flow &amp; ROI Forecast</vt:lpstr>
      <vt:lpstr>10.Insights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sravani g</dc:creator>
  <cp:lastModifiedBy>sravani g</cp:lastModifiedBy>
  <cp:revision>2</cp:revision>
  <dcterms:created xsi:type="dcterms:W3CDTF">2026-04-10T03:07:57Z</dcterms:created>
  <dcterms:modified xsi:type="dcterms:W3CDTF">2026-04-10T09:54:21Z</dcterms:modified>
</cp:coreProperties>
</file>